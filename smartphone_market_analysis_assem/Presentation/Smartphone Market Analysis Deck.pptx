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Cairo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2b1bb578-ea0d-4f59-8ab8-4bbb5cf89f71.fntdata" /><ns0:Relationship Id="rIdFont21" Type="http://schemas.openxmlformats.org/officeDocument/2006/relationships/font" Target="fonts/24b381cd-429a-4bd3-b22d-21f800ee67b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343275" y="4163317"/>
            <a:ext cx="5505450" cy="638175"/>
          </a:xfrm>
          <a:prstGeom prst="roundRect">
            <a:avLst>
              <a:gd name="adj" fmla="val 1791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34112" y="2056507"/>
            <a:ext cx="971550" cy="419100"/>
          </a:xfrm>
          <a:prstGeom prst="roundRect">
            <a:avLst>
              <a:gd name="adj" fmla="val 45454"/>
            </a:avLst>
          </a:prstGeom>
          <a:solidFill>
            <a:srgbClr val="153049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86337" y="2056507"/>
            <a:ext cx="1095375" cy="419100"/>
          </a:xfrm>
          <a:prstGeom prst="roundRect">
            <a:avLst>
              <a:gd name="adj" fmla="val 45454"/>
            </a:avLst>
          </a:prstGeom>
          <a:solidFill>
            <a:srgbClr val="323029"/>
          </a:solidFill>
          <a:ln w="9525">
            <a:solidFill>
              <a:srgbClr val="564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387" y="2189857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387" y="2189857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205382" y="2704207"/>
            <a:ext cx="12602765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450" i="0" u="none">
                <a:solidFill>
                  <a:srgbClr val="F8FAFC"/>
                </a:solidFill>
                <a:latin typeface="Cairo"/>
              </a:rPr>
              <a:t>Smartphone Market Analysis Using Python &amp;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2078" y="3382267"/>
            <a:ext cx="560784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94A3B8"/>
                </a:solidFill>
                <a:latin typeface="Cairo"/>
              </a:rPr>
              <a:t>تحليل شامل لسوق الهواتف الذكية على منصة أمازون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637" y="2113657"/>
            <a:ext cx="95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Cairo"/>
              </a:rPr>
              <a:t>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5862" y="2113657"/>
            <a:ext cx="10763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BBF24"/>
                </a:solidFill>
                <a:latin typeface="Cairo"/>
              </a:rPr>
              <a:t>Power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9918" y="4325242"/>
            <a:ext cx="173831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E2E8F0"/>
                </a:solidFill>
                <a:latin typeface="Cairo"/>
              </a:rPr>
              <a:t>إعداد الباحث:</a:t>
            </a:r>
            <a:r>
              <a:rPr b="0" sz="1350" i="0" u="none">
                <a:solidFill>
                  <a:srgbClr val="E2E8F0"/>
                </a:solidFill>
                <a:latin typeface="Cairo"/>
              </a:rPr>
              <a:t> عاصم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7975" y="433953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8FAFC"/>
                </a:solidFill>
                <a:latin typeface="Cairo"/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2793" y="4325242"/>
            <a:ext cx="354806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E2E8F0"/>
                </a:solidFill>
                <a:latin typeface="Cairo"/>
              </a:rPr>
              <a:t>الأدوات المستخدمة:</a:t>
            </a:r>
            <a:r>
              <a:rPr b="0" sz="1350" i="0" u="none">
                <a:solidFill>
                  <a:srgbClr val="E2E8F0"/>
                </a:solidFill>
                <a:latin typeface="Cairo"/>
              </a:rPr>
              <a:t> Python,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754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43000"/>
            <a:ext cx="109728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2263229"/>
            <a:ext cx="5334000" cy="2607766"/>
          </a:xfrm>
          <a:prstGeom prst="roundRect">
            <a:avLst>
              <a:gd name="adj" fmla="val 438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2114550"/>
            <a:ext cx="5334000" cy="2905125"/>
          </a:xfrm>
          <a:prstGeom prst="roundRect">
            <a:avLst>
              <a:gd name="adj" fmla="val 39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4300" y="5895975"/>
            <a:ext cx="38100" cy="504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52800" y="2847975"/>
            <a:ext cx="2362200" cy="895350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8200" y="2847975"/>
            <a:ext cx="2362200" cy="895350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52800" y="3895725"/>
            <a:ext cx="2362200" cy="895350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" y="3895725"/>
            <a:ext cx="2362200" cy="895350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3300" y="2572791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75" y="2424112"/>
            <a:ext cx="2381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312" y="3000375"/>
            <a:ext cx="25717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6425" y="3000375"/>
            <a:ext cx="2857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4048125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0712" y="4048125"/>
            <a:ext cx="257175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0450" y="3053804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0450" y="3328094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0450" y="3602384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0450" y="3876675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0450" y="4150965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0450" y="4425255"/>
            <a:ext cx="13335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457200"/>
            <a:ext cx="11582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Cairo"/>
              </a:rPr>
              <a:t>Project Objective &amp; Learning Outcomes | أهداف المشروع والمخرجات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6010275"/>
            <a:ext cx="10725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Cairo"/>
              </a:rPr>
              <a:t>شرح بالعربي:</a:t>
            </a:r>
            <a:r>
              <a:rPr b="0" sz="1125" i="0" u="none">
                <a:solidFill>
                  <a:srgbClr val="1E40AF"/>
                </a:solidFill>
                <a:latin typeface="Cairo"/>
              </a:rPr>
              <a:t> الهدف الأساسي تحويل البيانات الخام المأخوذة من سوق أمازون إلى رؤى تجارية واضحة عبر استخراج المميزات وتنظيف البيانات وعرضها في لوحة تحكم تفاعلية.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3700" y="2491829"/>
            <a:ext cx="4940617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563EB"/>
                </a:solidFill>
                <a:latin typeface="Cairo"/>
              </a:rPr>
              <a:t>Key Objectives | الأهداف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2343150"/>
            <a:ext cx="4890611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59669"/>
                </a:solidFill>
                <a:latin typeface="Cairo"/>
              </a:rPr>
              <a:t>Key Learnings | المهارات المكتسبة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2996654"/>
            <a:ext cx="6096000" cy="27429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b="0" sz="1200" i="0" u="none">
                <a:solidFill>
                  <a:srgbClr val="334155"/>
                </a:solidFill>
                <a:latin typeface="Cairo"/>
              </a:rPr>
              <a:t>Analyze Amazon smartphone products.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3270944"/>
            <a:ext cx="6096000" cy="27429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b="0" sz="1200" i="0" u="none">
                <a:solidFill>
                  <a:srgbClr val="334155"/>
                </a:solidFill>
                <a:latin typeface="Cairo"/>
              </a:rPr>
              <a:t>Improve data quality through cleaning.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3545234"/>
            <a:ext cx="6096000" cy="27429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b="0" sz="1200" i="0" u="none">
                <a:solidFill>
                  <a:srgbClr val="334155"/>
                </a:solidFill>
                <a:latin typeface="Cairo"/>
              </a:rPr>
              <a:t>Extract useful features from raw data.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819525"/>
            <a:ext cx="6096000" cy="27429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b="0" sz="1200" i="0" u="none">
                <a:solidFill>
                  <a:srgbClr val="334155"/>
                </a:solidFill>
                <a:latin typeface="Cairo"/>
              </a:rPr>
              <a:t>Perform exploratory data analysis (EDA).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093815"/>
            <a:ext cx="6096000" cy="27429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b="0" sz="1200" i="0" u="none">
                <a:solidFill>
                  <a:srgbClr val="334155"/>
                </a:solidFill>
                <a:latin typeface="Cairo"/>
              </a:rPr>
              <a:t>Build interactive Power BI dashboard.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4368105"/>
            <a:ext cx="6096000" cy="27429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b="0" sz="1200" i="0" u="none">
                <a:solidFill>
                  <a:srgbClr val="334155"/>
                </a:solidFill>
                <a:latin typeface="Cairo"/>
              </a:rPr>
              <a:t>Generate actionable business insights.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8025" y="3305175"/>
            <a:ext cx="2571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Cairo"/>
              </a:rPr>
              <a:t>Data Cleaning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425" y="3305175"/>
            <a:ext cx="2571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Cairo"/>
              </a:rPr>
              <a:t>Feature Engineering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8025" y="4352925"/>
            <a:ext cx="2571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Cairo"/>
              </a:rPr>
              <a:t>Data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425" y="4352925"/>
            <a:ext cx="2571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Cairo"/>
              </a:rPr>
              <a:t>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754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43000"/>
            <a:ext cx="109728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362200"/>
            <a:ext cx="4633019" cy="2371725"/>
          </a:xfrm>
          <a:prstGeom prst="roundRect">
            <a:avLst>
              <a:gd name="adj" fmla="val 642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44300" y="5895975"/>
            <a:ext cx="38100" cy="5048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47419" y="2998440"/>
            <a:ext cx="6034980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92933" y="3552825"/>
            <a:ext cx="9525" cy="5715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Cairo"/>
              </a:rPr>
              <a:t>Dataset Information &amp; Structure | وصف البيانات الخام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10275"/>
            <a:ext cx="10725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Cairo"/>
              </a:rPr>
              <a:t>شرح بالعربي:</a:t>
            </a:r>
            <a:r>
              <a:rPr b="0" sz="1125" i="0" u="none">
                <a:solidFill>
                  <a:srgbClr val="166534"/>
                </a:solidFill>
                <a:latin typeface="Cairo"/>
              </a:rPr>
              <a:t> تصف هذه الشريحة البيانات المجمعة من أمازون قبل التنظيف؛ حيث كانت تتكون من 340 صفاً و20 عموداً تحتوي على تفاصيل الأسعار، المبيعات، وشارات تميز المنتجات.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7419" y="2297459"/>
            <a:ext cx="613023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Cairo"/>
              </a:rPr>
              <a:t>البيانات تم جمعها من متجر أمازون الإلكتروني، حيث يمثل كل سجل منتجًا فريدًا يحتوي على تفاصيل التسعير والتقييمات وخصائص البيع.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0" y="2667000"/>
            <a:ext cx="5280738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94A3B8"/>
                </a:solidFill>
                <a:latin typeface="Cairo"/>
              </a:rPr>
              <a:t>Dataset Shape Before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7919" y="3188940"/>
            <a:ext cx="574923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Cairo"/>
              </a:rPr>
              <a:t>Key Included Attributes | الخصائص الرئيسية: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2534" y="3588990"/>
            <a:ext cx="287461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Cairo"/>
              </a:rPr>
              <a:t>• Product Name &amp;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7919" y="3588990"/>
            <a:ext cx="287461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Cairo"/>
              </a:rPr>
              <a:t>• Rating &amp; Rating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2534" y="3960465"/>
            <a:ext cx="287461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Cairo"/>
              </a:rPr>
              <a:t>• Monthly Sales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7919" y="3960465"/>
            <a:ext cx="287461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Cairo"/>
              </a:rPr>
              <a:t>• Prime Eligibility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2534" y="4331940"/>
            <a:ext cx="287461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Cairo"/>
              </a:rPr>
              <a:t>• Amazon Choice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7919" y="4331940"/>
            <a:ext cx="287461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Cairo"/>
              </a:rPr>
              <a:t>• Best Seller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524" y="3248025"/>
            <a:ext cx="12192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38BDF8"/>
                </a:solidFill>
                <a:latin typeface="Cairo"/>
              </a:rPr>
              <a:t>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524" y="4143375"/>
            <a:ext cx="1219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Cairo"/>
              </a:rPr>
              <a:t>Rows (صفوف)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5792" y="3248025"/>
            <a:ext cx="136207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BBF24"/>
                </a:solidFill>
                <a:latin typeface="Cairo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5792" y="4143375"/>
            <a:ext cx="13620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Cairo"/>
              </a:rPr>
              <a:t>Columns (أعمدة)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905500"/>
            <a:ext cx="1097280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066800"/>
            <a:ext cx="109728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276350"/>
          <a:ext cx="10972799" cy="28860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81002"/>
                <a:gridCol w="6573440"/>
                <a:gridCol w="1618357"/>
              </a:tblGrid>
              <a:tr h="412296"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FFFFFF"/>
                          </a:solidFill>
                          <a:latin typeface="Cairo"/>
                        </a:rPr>
                        <a:t>Column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FFFFFF"/>
                          </a:solidFill>
                          <a:latin typeface="Cairo"/>
                        </a:rPr>
                        <a:t>Meaning / Meaning in Arabic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FFFFFF"/>
                          </a:solidFill>
                          <a:latin typeface="Cairo"/>
                        </a:rPr>
                        <a:t>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12296"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00000"/>
                          </a:solidFill>
                          <a:latin typeface="Cairo"/>
                        </a:rPr>
                        <a:t>asin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000000"/>
                          </a:solidFill>
                          <a:latin typeface="Cairo"/>
                        </a:rPr>
                        <a:t>Unique product identifier (المعرف الفريد للمنتج)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64748B"/>
                          </a:solidFill>
                          <a:latin typeface="Cairo"/>
                        </a:rPr>
                        <a:t>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296"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00000"/>
                          </a:solidFill>
                          <a:latin typeface="Cairo"/>
                        </a:rPr>
                        <a:t>product_title / price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000000"/>
                          </a:solidFill>
                          <a:latin typeface="Cairo"/>
                        </a:rPr>
                        <a:t>Product name &amp; Current price (اسم المنتج والسعر الحالي)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64748B"/>
                          </a:solidFill>
                          <a:latin typeface="Cairo"/>
                        </a:rPr>
                        <a:t>Raw Data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12296"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00000"/>
                          </a:solidFill>
                          <a:latin typeface="Cairo"/>
                        </a:rPr>
                        <a:t>product_star_rating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000000"/>
                          </a:solidFill>
                          <a:latin typeface="Cairo"/>
                        </a:rPr>
                        <a:t>Product rating / number of ratings (التقييم وعدد التقييمات)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64748B"/>
                          </a:solidFill>
                          <a:latin typeface="Cairo"/>
                        </a:rPr>
                        <a:t>Feedback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296"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00000"/>
                          </a:solidFill>
                          <a:latin typeface="Cairo"/>
                        </a:rPr>
                        <a:t>sales_volume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000000"/>
                          </a:solidFill>
                          <a:latin typeface="Cairo"/>
                        </a:rPr>
                        <a:t>Monthly sales information (حجم المبيعات الشهري)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64748B"/>
                          </a:solidFill>
                          <a:latin typeface="Cairo"/>
                        </a:rPr>
                        <a:t>Sales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12296"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000000"/>
                          </a:solidFill>
                          <a:latin typeface="Cairo"/>
                        </a:rPr>
                        <a:t>is_prime / best_seller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000000"/>
                          </a:solidFill>
                          <a:latin typeface="Cairo"/>
                        </a:rPr>
                        <a:t>Prime eligibility &amp; Best Seller status (شارات التميز)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050" i="0" u="none">
                          <a:solidFill>
                            <a:srgbClr val="64748B"/>
                          </a:solidFill>
                          <a:latin typeface="Cairo"/>
                        </a:rPr>
                        <a:t>Flags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299"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2563EB"/>
                          </a:solidFill>
                          <a:latin typeface="Cairo"/>
                        </a:rPr>
                        <a:t>Brand / Storage_GB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1E40AF"/>
                          </a:solidFill>
                          <a:latin typeface="Cairo"/>
                        </a:rPr>
                        <a:t>Extracted brand &amp; storage size (الماركة والمساحة المستخرجة)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050" i="0" u="none">
                          <a:solidFill>
                            <a:srgbClr val="2563EB"/>
                          </a:solidFill>
                          <a:latin typeface="Cairo"/>
                        </a:rPr>
                        <a:t>Engineered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Cairo"/>
              </a:rPr>
              <a:t>Important Columns Description | الأعمدة الهامة ودلالاتها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6029325"/>
            <a:ext cx="107442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Cairo"/>
              </a:rPr>
              <a:t>Why Important?</a:t>
            </a:r>
            <a:r>
              <a:rPr b="0" sz="1050" i="0" u="none">
                <a:solidFill>
                  <a:srgbClr val="334155"/>
                </a:solidFill>
                <a:latin typeface="Cairo"/>
              </a:rPr>
              <a:t> هذه الأعمدة تؤثر بشكل مباشر على تحليلات التسعير، رضا العملاء، ومدى شعبية المنتجات في السوق.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7547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43000"/>
            <a:ext cx="109728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1616868"/>
            <a:ext cx="3530500" cy="1876425"/>
          </a:xfrm>
          <a:prstGeom prst="roundRect">
            <a:avLst>
              <a:gd name="adj" fmla="val 6091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749" y="1740693"/>
            <a:ext cx="3530649" cy="1628775"/>
          </a:xfrm>
          <a:prstGeom prst="roundRect">
            <a:avLst>
              <a:gd name="adj" fmla="val 7017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748" y="1864518"/>
            <a:ext cx="3530500" cy="1381125"/>
          </a:xfrm>
          <a:prstGeom prst="roundRect">
            <a:avLst>
              <a:gd name="adj" fmla="val 827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51899" y="4136231"/>
            <a:ext cx="3530500" cy="1381125"/>
          </a:xfrm>
          <a:prstGeom prst="roundRect">
            <a:avLst>
              <a:gd name="adj" fmla="val 827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748" y="4136231"/>
            <a:ext cx="7251650" cy="1381125"/>
          </a:xfrm>
          <a:prstGeom prst="roundRect">
            <a:avLst>
              <a:gd name="adj" fmla="val 827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44300" y="5895975"/>
            <a:ext cx="38100" cy="5048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2350" y="1816893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774" y="1940718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924" y="2064543"/>
            <a:ext cx="1143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5200" y="4336256"/>
            <a:ext cx="25717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349" y="4336256"/>
            <a:ext cx="200025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Cairo"/>
              </a:rPr>
              <a:t>Data Issues Identified | المشاكل المكتشفة في البيانات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6010275"/>
            <a:ext cx="10725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A3412"/>
                </a:solidFill>
                <a:latin typeface="Cairo"/>
              </a:rPr>
              <a:t>شرح بالعربي:</a:t>
            </a:r>
            <a:r>
              <a:rPr b="0" sz="1125" i="0" u="none">
                <a:solidFill>
                  <a:srgbClr val="9A3412"/>
                </a:solidFill>
                <a:latin typeface="Cairo"/>
              </a:rPr>
              <a:t> قبل البدء بالتحليل، تم حصر جميع العيوب في البيانات من القيم المفقودة والتكرار، وحتى البيانات النصية المخزنة بشكل غير صحيح وتداخل الفئات.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1924" y="2159793"/>
            <a:ext cx="338698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Cairo"/>
              </a:rPr>
              <a:t>Duplicate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1924" y="2550318"/>
            <a:ext cx="32257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E123C"/>
                </a:solidFill>
                <a:latin typeface="Cairo"/>
              </a:rPr>
              <a:t>Total records: 340</a:t>
            </a:r>
            <a:r>
              <a:t>
</a:t>
            </a:r>
            <a:r>
              <a:rPr b="0" sz="1050" i="0" u="none">
                <a:solidFill>
                  <a:srgbClr val="BE123C"/>
                </a:solidFill>
                <a:latin typeface="Cairo"/>
              </a:rPr>
              <a:t> Unique ASINs: 315</a:t>
            </a:r>
            <a:r>
              <a:t>
</a:t>
            </a:r>
            <a:r>
              <a:rPr b="0" sz="1050" i="0" u="none">
                <a:solidFill>
                  <a:srgbClr val="BE123C"/>
                </a:solidFill>
                <a:latin typeface="Cairo"/>
              </a:rPr>
              <a:t> تم اكتشاف تكرار لبعض المنتجات.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0774" y="2283618"/>
            <a:ext cx="338714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Cairo"/>
              </a:rPr>
              <a:t>Missing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0774" y="2674143"/>
            <a:ext cx="3225849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E123C"/>
                </a:solidFill>
                <a:latin typeface="Cairo"/>
              </a:rPr>
              <a:t>مفقودة في الأسعار، التقييمات، أحجام المبيعات، ونصوص الكوبونات.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73" y="2407443"/>
            <a:ext cx="338698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Cairo"/>
              </a:rPr>
              <a:t>Wrong Data 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73" y="2797968"/>
            <a:ext cx="32257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E123C"/>
                </a:solidFill>
                <a:latin typeface="Cairo"/>
              </a:rPr>
              <a:t>الأسعار مخزنة كنصوص متضمنة رموز ($199.99).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1924" y="4679156"/>
            <a:ext cx="338698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Cairo"/>
              </a:rPr>
              <a:t>Mixed Categories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1924" y="5069681"/>
            <a:ext cx="32257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E123C"/>
                </a:solidFill>
                <a:latin typeface="Cairo"/>
              </a:rPr>
              <a:t>وجود هواتف أرضية ولاسلكية غير مطابقة للمطلوب.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773" y="4679156"/>
            <a:ext cx="729419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Cairo"/>
              </a:rPr>
              <a:t>Sales Stored as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73" y="5069681"/>
            <a:ext cx="69468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E123C"/>
                </a:solidFill>
                <a:latin typeface="Cairo"/>
              </a:rPr>
              <a:t>المبيعات مخزنة كنصوص مثل "4K+ bought in past month" وتتطلب معالجة رقمية.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754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43000"/>
            <a:ext cx="109728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2733675"/>
            <a:ext cx="2628900" cy="1628775"/>
          </a:xfrm>
          <a:prstGeom prst="roundRect">
            <a:avLst>
              <a:gd name="adj" fmla="val 46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2733675"/>
            <a:ext cx="2628900" cy="1628775"/>
          </a:xfrm>
          <a:prstGeom prst="roundRect">
            <a:avLst>
              <a:gd name="adj" fmla="val 46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90900" y="2733675"/>
            <a:ext cx="2628900" cy="1628775"/>
          </a:xfrm>
          <a:prstGeom prst="roundRect">
            <a:avLst>
              <a:gd name="adj" fmla="val 46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2733675"/>
            <a:ext cx="2628900" cy="1628775"/>
          </a:xfrm>
          <a:prstGeom prst="roundRect">
            <a:avLst>
              <a:gd name="adj" fmla="val 46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44300" y="5895975"/>
            <a:ext cx="38100" cy="504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125200" y="29718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53500" y="2733675"/>
            <a:ext cx="26289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43900" y="29718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733675"/>
            <a:ext cx="26289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62600" y="29718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0900" y="2733675"/>
            <a:ext cx="26289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81300" y="29718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2733675"/>
            <a:ext cx="26289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11582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Cairo"/>
              </a:rPr>
              <a:t>Data Cleaning Process | مراحل تنظيف البيانات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6010275"/>
            <a:ext cx="10725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Cairo"/>
              </a:rPr>
              <a:t>شرح بالعربي:</a:t>
            </a:r>
            <a:r>
              <a:rPr b="0" sz="1125" i="0" u="none">
                <a:solidFill>
                  <a:srgbClr val="1E40AF"/>
                </a:solidFill>
                <a:latin typeface="Cairo"/>
              </a:rPr>
              <a:t> تم تنفيذ خطة تنظيف محكمة على 4 خطوات أدت لتصفية البيانات وتجهيز 237 منتجًا نقيًا يمثل الهواتف الذكية فقط.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82325" y="2971800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Cairo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352800"/>
            <a:ext cx="246030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Cairo"/>
              </a:rPr>
              <a:t>Duplicate Removal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714750"/>
            <a:ext cx="2343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Cairo"/>
              </a:rPr>
              <a:t>استخدام ASIN كمعرف فريد.</a:t>
            </a:r>
            <a:r>
              <a:t>
</a:t>
            </a:r>
            <a:r>
              <a:rPr b="1" sz="975" i="0" u="none">
                <a:solidFill>
                  <a:srgbClr val="64748B"/>
                </a:solidFill>
                <a:latin typeface="Cairo"/>
              </a:rPr>
              <a:t>النتيجة:</a:t>
            </a:r>
            <a:r>
              <a:rPr b="0" sz="975" i="0" u="none">
                <a:solidFill>
                  <a:srgbClr val="64748B"/>
                </a:solidFill>
                <a:latin typeface="Cairo"/>
              </a:rPr>
              <a:t> 340 ← 315 سجل.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1025" y="2971800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Cairo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2700" y="3352800"/>
            <a:ext cx="246030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Cairo"/>
              </a:rPr>
              <a:t>Missing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3714750"/>
            <a:ext cx="2343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Cairo"/>
              </a:rPr>
              <a:t>حذف الصفوف المفقودة في السعر والتقييم لأهميتهما الجوهرية.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9725" y="2971800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Cairo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1400" y="3352800"/>
            <a:ext cx="246030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Cairo"/>
              </a:rPr>
              <a:t>Type Correction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1400" y="3714750"/>
            <a:ext cx="2343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Cairo"/>
              </a:rPr>
              <a:t>إزالة الرموز ($ ,) وتحويل أعمدة الأسعار إلى أرقام قابلة للتحليل.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38425" y="2971800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Cairo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" y="3352800"/>
            <a:ext cx="246030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Cairo"/>
              </a:rPr>
              <a:t>Filtering Category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" y="3714750"/>
            <a:ext cx="2343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Cairo"/>
              </a:rPr>
              <a:t>استبعاد الهواتف الأرضية والمكتبية.</a:t>
            </a:r>
            <a:r>
              <a:t>
</a:t>
            </a:r>
            <a:r>
              <a:rPr b="1" sz="975" i="0" u="none">
                <a:solidFill>
                  <a:srgbClr val="64748B"/>
                </a:solidFill>
                <a:latin typeface="Cairo"/>
              </a:rPr>
              <a:t>النتيجة:</a:t>
            </a:r>
            <a:r>
              <a:rPr b="0" sz="975" i="0" u="none">
                <a:solidFill>
                  <a:srgbClr val="64748B"/>
                </a:solidFill>
                <a:latin typeface="Cairo"/>
              </a:rPr>
              <a:t> 315 ← 237 منتج.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754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43000"/>
            <a:ext cx="109728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00325"/>
            <a:ext cx="3505200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2600325"/>
            <a:ext cx="3505200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2600325"/>
            <a:ext cx="3505200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44300" y="5895975"/>
            <a:ext cx="38100" cy="5048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15325" y="3876675"/>
            <a:ext cx="302895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81525" y="3876675"/>
            <a:ext cx="302895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7725" y="3876675"/>
            <a:ext cx="302895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825" y="2914650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075" y="2914650"/>
            <a:ext cx="1524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175" y="2914650"/>
            <a:ext cx="1905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Cairo"/>
              </a:rPr>
              <a:t>Feature Engineering | هندسة الميزات واستخراج أعمدة جديدة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010275"/>
            <a:ext cx="10725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Cairo"/>
              </a:rPr>
              <a:t>شرح بالعربي:</a:t>
            </a:r>
            <a:r>
              <a:rPr b="0" sz="1125" i="0" u="none">
                <a:solidFill>
                  <a:srgbClr val="166534"/>
                </a:solidFill>
                <a:latin typeface="Cairo"/>
              </a:rPr>
              <a:t> هندسة الميزات أضافت قيمة كبيرة للبيانات بتحويل النصوص المعقدة إلى متغيرات رقمية وفئات واضحة تمكّننا من التحليل الإحصائي.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2838450"/>
            <a:ext cx="3280410" cy="3143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Cairo"/>
              </a:rPr>
              <a:t>Brand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267075"/>
            <a:ext cx="31242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Cairo"/>
              </a:rPr>
              <a:t>استخراج اسم الماركة من عنوان المنتج (Samsung, Apple, Motorola, Google, OnePlus).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3952875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Cairo"/>
              </a:rPr>
              <a:t>Why?</a:t>
            </a:r>
            <a:r>
              <a:rPr b="0" sz="975" i="0" u="none">
                <a:solidFill>
                  <a:srgbClr val="64748B"/>
                </a:solidFill>
                <a:latin typeface="Cairo"/>
              </a:rPr>
              <a:t> لتسهيل المقارنة بين الماركات المختلفة.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525" y="2838450"/>
            <a:ext cx="3280410" cy="31432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59669"/>
                </a:solidFill>
                <a:latin typeface="Cairo"/>
              </a:rPr>
              <a:t>Storage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525" y="3267075"/>
            <a:ext cx="31242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Cairo"/>
              </a:rPr>
              <a:t>استخراج مساحة التخزين (32GB, 64GB, 128GB, 256GB, 512GB).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7725" y="3952875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Cairo"/>
              </a:rPr>
              <a:t>Why?</a:t>
            </a:r>
            <a:r>
              <a:rPr b="0" sz="975" i="0" u="none">
                <a:solidFill>
                  <a:srgbClr val="64748B"/>
                </a:solidFill>
                <a:latin typeface="Cairo"/>
              </a:rPr>
              <a:t> لدراسة تأثير سعة التخزين على الأسعار.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2838450"/>
            <a:ext cx="3280410" cy="3143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97706"/>
                </a:solidFill>
                <a:latin typeface="Cairo"/>
              </a:rPr>
              <a:t>Sales Transformation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267075"/>
            <a:ext cx="31242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Cairo"/>
              </a:rPr>
              <a:t>تحويل النصوص إلى أرقام (4K+ → 4000, 1K+ → 1000, 500+ → 500).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3952875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Cairo"/>
              </a:rPr>
              <a:t>Why?</a:t>
            </a:r>
            <a:r>
              <a:rPr b="0" sz="975" i="0" u="none">
                <a:solidFill>
                  <a:srgbClr val="64748B"/>
                </a:solidFill>
                <a:latin typeface="Cairo"/>
              </a:rPr>
              <a:t> لإجراء التحليلات والإحصائيات الرقمية.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7547"/>
            </a:avLst>
          </a:prstGeom>
          <a:solidFill>
            <a:srgbClr val="13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43000"/>
            <a:ext cx="109728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53754"/>
            <a:ext cx="3505200" cy="1788616"/>
          </a:xfrm>
          <a:prstGeom prst="roundRect">
            <a:avLst>
              <a:gd name="adj" fmla="val 639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2653754"/>
            <a:ext cx="3505200" cy="1788616"/>
          </a:xfrm>
          <a:prstGeom prst="roundRect">
            <a:avLst>
              <a:gd name="adj" fmla="val 639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2653754"/>
            <a:ext cx="3505200" cy="1788616"/>
          </a:xfrm>
          <a:prstGeom prst="roundRect">
            <a:avLst>
              <a:gd name="adj" fmla="val 639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44300" y="5895975"/>
            <a:ext cx="38100" cy="5048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9475" y="2891879"/>
            <a:ext cx="3048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2891879"/>
            <a:ext cx="33337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550" y="2891879"/>
            <a:ext cx="23812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38BDF8"/>
                </a:solidFill>
                <a:latin typeface="Cairo"/>
              </a:rPr>
              <a:t>Why Python? | لماذا تم استخدام بايثون؟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010275"/>
            <a:ext cx="10725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Cairo"/>
              </a:rPr>
              <a:t>النقطة الجوهرية للعرض:</a:t>
            </a:r>
            <a:r>
              <a:rPr b="0" sz="1125" i="0" u="none">
                <a:solidFill>
                  <a:srgbClr val="E2E8F0"/>
                </a:solidFill>
                <a:latin typeface="Cairo"/>
              </a:rPr>
              <a:t> لم نستخدم Python لمجرد التنظيف البسيط، بل لإعادة هيكلة البيانات وتحويلها كلياً لتكون جاهزة للمناقشة التفاعلية داخل Power BI.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310979"/>
            <a:ext cx="328041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Cairo"/>
              </a:rPr>
              <a:t>Data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777704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Cairo"/>
              </a:rPr>
              <a:t>إزالة التكرار بسهولة، التعامل المتقدم مع القيم المفقودة، ومعالجة النصوص المتقدمة.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3310979"/>
            <a:ext cx="328041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Cairo"/>
              </a:rPr>
              <a:t>Feature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3777704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Cairo"/>
              </a:rPr>
              <a:t>استخراج الماركات وسعات التخزين باستخدام Regular Expressions وتحويل المبيعات لأرقام.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310979"/>
            <a:ext cx="328041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Cairo"/>
              </a:rPr>
              <a:t>Data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777704"/>
            <a:ext cx="31242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Cairo"/>
              </a:rPr>
              <a:t>إجراء التجميعات الإحصائية (Aggregations) والتحقق من صحة البيانات قبل تصديرها لـ Power BI.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754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43000"/>
            <a:ext cx="109728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1907381"/>
            <a:ext cx="5372100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907381"/>
            <a:ext cx="5372100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4179093"/>
            <a:ext cx="5372100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179093"/>
            <a:ext cx="5372100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44300" y="5895975"/>
            <a:ext cx="38100" cy="504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25250" y="1907381"/>
            <a:ext cx="57150" cy="10096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24550" y="1907381"/>
            <a:ext cx="57150" cy="10096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25250" y="4179093"/>
            <a:ext cx="57150" cy="10096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24550" y="4179093"/>
            <a:ext cx="57150" cy="10096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7575" y="2240756"/>
            <a:ext cx="25717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2240756"/>
            <a:ext cx="20955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4225" y="4512468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150" y="4512468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57200"/>
            <a:ext cx="11582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Cairo"/>
              </a:rPr>
              <a:t>Exploratory Data Analysis | أهم نتائج تحليل البيانات الاستكشافي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6010275"/>
            <a:ext cx="10725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Cairo"/>
              </a:rPr>
              <a:t>شرح بالعربي:</a:t>
            </a:r>
            <a:r>
              <a:rPr b="0" sz="1125" i="0" u="none">
                <a:solidFill>
                  <a:srgbClr val="1E40AF"/>
                </a:solidFill>
                <a:latin typeface="Cairo"/>
              </a:rPr>
              <a:t> أظهر التحليل الاستكشافي هيمنة سامسونج في تنوع المنتجات، بينما تصدرت أبل في رضا العملاء وحجم المبيعات، وحققت ون بلس أعلى متوسط سعر.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6725" y="2097881"/>
            <a:ext cx="304038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Cairo"/>
              </a:rPr>
              <a:t>Most Represented Brand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6725" y="2450306"/>
            <a:ext cx="28956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Cairo"/>
              </a:rPr>
              <a:t>Samsung (الأكثر تواجدًا من حيث عدد المنتجات)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6050" y="2097881"/>
            <a:ext cx="288036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Cairo"/>
              </a:rPr>
              <a:t>Highest Average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6050" y="2450306"/>
            <a:ext cx="2743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Cairo"/>
              </a:rPr>
              <a:t>OnePlus (الأعلى متوسط سعر بين الماركات)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0" y="4369593"/>
            <a:ext cx="249031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Cairo"/>
              </a:rPr>
              <a:t>Highest Average Rating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0" y="4722018"/>
            <a:ext cx="237172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59669"/>
                </a:solidFill>
                <a:latin typeface="Cairo"/>
              </a:rPr>
              <a:t>Apple (الأعلى تقييمًا من قبل العملاء)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0800" y="4369593"/>
            <a:ext cx="284035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Cairo"/>
              </a:rPr>
              <a:t>Highest Average Sales Volume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0800" y="4722018"/>
            <a:ext cx="27051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C3AED"/>
                </a:solidFill>
                <a:latin typeface="Cairo"/>
              </a:rPr>
              <a:t>Apple (الأعلى متوسط حجم مبيعات شهري)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962650"/>
            <a:ext cx="10972800" cy="438150"/>
          </a:xfrm>
          <a:prstGeom prst="roundRect">
            <a:avLst>
              <a:gd name="adj" fmla="val 869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066800"/>
            <a:ext cx="109728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233910"/>
            <a:ext cx="4526309" cy="2618779"/>
          </a:xfrm>
          <a:prstGeom prst="roundRect">
            <a:avLst>
              <a:gd name="adj" fmla="val 436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44300" y="5962650"/>
            <a:ext cx="38100" cy="438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0100" y="4204989"/>
            <a:ext cx="4145309" cy="457200"/>
          </a:xfrm>
          <a:prstGeom prst="roundRect">
            <a:avLst>
              <a:gd name="adj" fmla="val 1666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509" y="1828800"/>
            <a:ext cx="6217890" cy="3429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509" y="1828800"/>
            <a:ext cx="6217890" cy="3429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109" y="2895897"/>
            <a:ext cx="11430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109" y="3135808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109" y="3375719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109" y="3615630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109" y="3855541"/>
            <a:ext cx="114300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Cairo"/>
              </a:rPr>
              <a:t>Power BI Dashboard – Overview Page | لوحة التحكم (النظرة العامة)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057900"/>
            <a:ext cx="10725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Cairo"/>
              </a:rPr>
              <a:t>تنويه:</a:t>
            </a:r>
            <a:r>
              <a:rPr b="0" sz="1050" i="0" u="none">
                <a:solidFill>
                  <a:srgbClr val="1E40AF"/>
                </a:solidFill>
                <a:latin typeface="Cairo"/>
              </a:rPr>
              <a:t> يمكنك استبدال الصورة بأعلى بسكرين شوت الصفحة الأولى الخاصة بك من Power BI.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2424410"/>
            <a:ext cx="445258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Cairo"/>
              </a:rPr>
              <a:t>Page Contents &amp;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19289"/>
            <a:ext cx="40119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Cairo"/>
              </a:rPr>
              <a:t>الغرض:</a:t>
            </a:r>
            <a:r>
              <a:rPr b="0" sz="975" i="0" u="none">
                <a:solidFill>
                  <a:srgbClr val="FFFFFF"/>
                </a:solidFill>
                <a:latin typeface="Cairo"/>
              </a:rPr>
              <a:t> تقديم نظرة عامة سريعة وشاملة لأداء سوق الهواتف الذكية.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236227" y="2853035"/>
            <a:ext cx="5181637" cy="23991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Cairo"/>
              </a:rPr>
              <a:t>KPI Cards:</a:t>
            </a:r>
            <a:r>
              <a:rPr b="0" sz="1050" i="0" u="none">
                <a:solidFill>
                  <a:srgbClr val="334155"/>
                </a:solidFill>
                <a:latin typeface="Cairo"/>
              </a:rPr>
              <a:t> الم показатели الرئيسية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236227" y="3092946"/>
            <a:ext cx="5181637" cy="23991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Cairo"/>
              </a:rPr>
              <a:t>Brand Distribution:</a:t>
            </a:r>
            <a:r>
              <a:rPr b="0" sz="1050" i="0" u="none">
                <a:solidFill>
                  <a:srgbClr val="334155"/>
                </a:solidFill>
                <a:latin typeface="Cairo"/>
              </a:rPr>
              <a:t> توزيع الماركات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236227" y="3332857"/>
            <a:ext cx="5181637" cy="23991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Cairo"/>
              </a:rPr>
              <a:t>Average Price:</a:t>
            </a:r>
            <a:r>
              <a:rPr b="0" sz="1050" i="0" u="none">
                <a:solidFill>
                  <a:srgbClr val="334155"/>
                </a:solidFill>
                <a:latin typeface="Cairo"/>
              </a:rPr>
              <a:t> تحليل متوسط الأسعار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236227" y="3572767"/>
            <a:ext cx="5181637" cy="23991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Cairo"/>
              </a:rPr>
              <a:t>Rating &amp; Sales:</a:t>
            </a:r>
            <a:r>
              <a:rPr b="0" sz="1050" i="0" u="none">
                <a:solidFill>
                  <a:srgbClr val="334155"/>
                </a:solidFill>
                <a:latin typeface="Cairo"/>
              </a:rPr>
              <a:t> التقييمات والمبيعات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236227" y="3812678"/>
            <a:ext cx="5181637" cy="23991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Cairo"/>
              </a:rPr>
              <a:t>Interactive Slicers:</a:t>
            </a:r>
            <a:r>
              <a:rPr b="0" sz="1050" i="0" u="none">
                <a:solidFill>
                  <a:srgbClr val="334155"/>
                </a:solidFill>
                <a:latin typeface="Cairo"/>
              </a:rPr>
              <a:t> تصفية تفاعلية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962650"/>
            <a:ext cx="10972800" cy="438150"/>
          </a:xfrm>
          <a:prstGeom prst="roundRect">
            <a:avLst>
              <a:gd name="adj" fmla="val 869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066800"/>
            <a:ext cx="109728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359521"/>
            <a:ext cx="4526309" cy="2367557"/>
          </a:xfrm>
          <a:prstGeom prst="roundRect">
            <a:avLst>
              <a:gd name="adj" fmla="val 48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44300" y="5962650"/>
            <a:ext cx="38100" cy="438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0100" y="3850778"/>
            <a:ext cx="4145309" cy="68580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509" y="1828800"/>
            <a:ext cx="6217890" cy="3429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509" y="1828800"/>
            <a:ext cx="6217890" cy="3429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59" y="3021508"/>
            <a:ext cx="13335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009" y="3261419"/>
            <a:ext cx="1524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2059" y="3501330"/>
            <a:ext cx="133350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Cairo"/>
              </a:rPr>
              <a:t>Power BI Dashboard – Detailed Analysis | لوحة التحكم (التحليل التفصيلي)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057900"/>
            <a:ext cx="10725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Cairo"/>
              </a:rPr>
              <a:t>تنويه:</a:t>
            </a:r>
            <a:r>
              <a:rPr b="0" sz="1050" i="0" u="none">
                <a:solidFill>
                  <a:srgbClr val="1E40AF"/>
                </a:solidFill>
                <a:latin typeface="Cairo"/>
              </a:rPr>
              <a:t> يمكنك استبدال الصورة بأعلى بسكرين شوت الصفحة الثانية الخاصة بك من Power BI.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2550021"/>
            <a:ext cx="445258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Cairo"/>
              </a:rPr>
              <a:t>Visual Components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65078"/>
            <a:ext cx="4011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Cairo"/>
              </a:rPr>
              <a:t>الغرض:</a:t>
            </a:r>
            <a:r>
              <a:rPr b="0" sz="975" i="0" u="none">
                <a:solidFill>
                  <a:srgbClr val="FFFFFF"/>
                </a:solidFill>
                <a:latin typeface="Cairo"/>
              </a:rPr>
              <a:t> تقديم رؤى عميقة حول العلاقة بين السعر والتقييم والسعة والمبيعات.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236227" y="2978646"/>
            <a:ext cx="5181637" cy="23991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Cairo"/>
              </a:rPr>
              <a:t>Scatter Plot:</a:t>
            </a:r>
            <a:r>
              <a:rPr b="0" sz="1050" i="0" u="none">
                <a:solidFill>
                  <a:srgbClr val="334155"/>
                </a:solidFill>
                <a:latin typeface="Cairo"/>
              </a:rPr>
              <a:t> Price vs Rating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236227" y="3218557"/>
            <a:ext cx="5181637" cy="239910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Cairo"/>
              </a:rPr>
              <a:t>Donut Chart:</a:t>
            </a:r>
            <a:r>
              <a:rPr b="0" sz="1050" i="0" u="none">
                <a:solidFill>
                  <a:srgbClr val="334155"/>
                </a:solidFill>
                <a:latin typeface="Cairo"/>
              </a:rPr>
              <a:t> Storage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236227" y="3458467"/>
            <a:ext cx="5181637" cy="23991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b="1" sz="1050" i="0" u="none">
                <a:solidFill>
                  <a:srgbClr val="334155"/>
                </a:solidFill>
                <a:latin typeface="Cairo"/>
              </a:rPr>
              <a:t>Product Details Table:</a:t>
            </a:r>
            <a:r>
              <a:rPr b="0" sz="1050" i="0" u="none">
                <a:solidFill>
                  <a:srgbClr val="334155"/>
                </a:solidFill>
                <a:latin typeface="Cairo"/>
              </a:rPr>
              <a:t> جدول التفاصيل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419725"/>
            <a:ext cx="10972800" cy="981075"/>
          </a:xfrm>
          <a:prstGeom prst="roundRect">
            <a:avLst>
              <a:gd name="adj" fmla="val 7766"/>
            </a:avLst>
          </a:prstGeom>
          <a:solidFill>
            <a:srgbClr val="15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672804"/>
            <a:ext cx="5372100" cy="1236166"/>
          </a:xfrm>
          <a:prstGeom prst="roundRect">
            <a:avLst>
              <a:gd name="adj" fmla="val 924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2489894"/>
            <a:ext cx="5372100" cy="1601985"/>
          </a:xfrm>
          <a:prstGeom prst="roundRect">
            <a:avLst>
              <a:gd name="adj" fmla="val 71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4300" y="5419725"/>
            <a:ext cx="38100" cy="9810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975" y="2949029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325" y="2766119"/>
            <a:ext cx="1333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8BDF8"/>
                </a:solidFill>
                <a:latin typeface="Cairo"/>
              </a:rPr>
              <a:t>Conclusion &amp; Recommendations | الخلاصة والتوصيات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5553075"/>
            <a:ext cx="106489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Cairo"/>
              </a:rPr>
              <a:t>🔥 الجملة المفتاحية للمناقشة: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5867400"/>
            <a:ext cx="10648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2E8F0"/>
                </a:solidFill>
                <a:latin typeface="Cairo"/>
              </a:rPr>
              <a:t>"أنا مستخدمتش Python لمجرد التنظيف فقط، لكن استخدمته في Data Cleaning وFeature Engineering وتحويل البيانات النصية إلى بيانات رقمية واستخراج أعمدة جديدة زي Brand وStorage_GB، وبعد كده استخدمت Power BI لعرض النتائج بصورة تفاعلية تساعد على اتخاذ القرار."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325" y="2872829"/>
            <a:ext cx="5320665" cy="31432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BBF24"/>
                </a:solidFill>
                <a:latin typeface="Cairo"/>
              </a:rP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282404"/>
            <a:ext cx="50673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CBD5E1"/>
                </a:solidFill>
                <a:latin typeface="Cairo"/>
              </a:rPr>
              <a:t>نجح المشروع في تحويل البيانات الخام للهواتف الذكية إلى رؤى تجارية قيمة باستخدام الجمع بين قدرات Python التجهيزية وPower BI التفاعلية.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2689919"/>
            <a:ext cx="5320665" cy="314325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4D399"/>
                </a:solidFill>
                <a:latin typeface="Cairo"/>
              </a:rPr>
              <a:t>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433387" y="3099494"/>
            <a:ext cx="6215062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Cairo"/>
              </a:rPr>
              <a:t>• التركيز على المنتجات ذات التقييمات العالية.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433387" y="3297584"/>
            <a:ext cx="6215062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Cairo"/>
              </a:rPr>
              <a:t>• متابعة تفضيلات العملاء لسعات التخزين.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433387" y="3495675"/>
            <a:ext cx="6215062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Cairo"/>
              </a:rPr>
              <a:t>• مقارنة استراتيجيات تسعير الماركات بانتظام.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433387" y="3693765"/>
            <a:ext cx="6215062" cy="198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Cairo"/>
              </a:rPr>
              <a:t>• استغلال مؤشرات المبيعات لتحسين التموضع.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000125"/>
            <a:ext cx="110490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847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847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1185862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0" y="2043112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63175" y="571500"/>
            <a:ext cx="1630203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Cairo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3450" y="1143000"/>
            <a:ext cx="58769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Cairo"/>
              </a:rPr>
              <a:t>https://www.spec-india.com/wp-content/uploads/2022/09/Banner-Social-Media-Analytics-Dashboard.png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275" y="1419225"/>
            <a:ext cx="1943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Cair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Cairo"/>
              </a:rPr>
              <a:t>www.spec-india.com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6050" y="2000250"/>
            <a:ext cx="4124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Cairo"/>
              </a:rPr>
              <a:t>https://blog.coupler.io/app/uploads/2025/04/ppc-dashboard-power-bi.png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6850" y="2276475"/>
            <a:ext cx="15335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Cair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Cairo"/>
              </a:rPr>
              <a:t>blog.coupler.io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